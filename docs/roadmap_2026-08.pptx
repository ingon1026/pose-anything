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12191695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181D"/>
                </a:solidFill>
              </a:rPr>
              <a:t>Vision AI 기술 지형과 개선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8616B"/>
                </a:solidFill>
              </a:rPr>
              <a:t>제로샷 객체 인식·6D 포즈 시스템(pose-anything)의 현재와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8616B"/>
                </a:solidFill>
              </a:rPr>
              <a:t>2026. 08. 10  ·  카메라 Vision AI 파트  ·  김인곤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</a:rPr>
              <a:t>AS-IS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81D"/>
                </a:solidFill>
              </a:rPr>
              <a:t>현재 시스템 — 완성·검증된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8616B"/>
                </a:solidFill>
              </a:rPr>
              <a:t>텍스트 한 단어로 임의 물체를 검출·추적하고 3D 위치·크기·자세를 ROS 2로 출력 — 학습·CAD 불필요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676655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1982"/>
                <a:gridCol w="3824577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검증 항목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결과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이동 물체 추적 (20초, 3물체)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전 구간 단일 ID · 축 뒤집힘 0회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3D 크기 정확도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실측 대비 ±1cm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자세 안정성 (yaw)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0.94°/프레임 · 5° 점프 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처리 속도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9.7 FPS (RTX 4070 Ti, 물체 3종)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배포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Docker 이미지 · bag/실시간 검증 · CI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201168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14181D"/>
                </a:solidFill>
              </a:rPr>
              <a:t>• 구성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58616B"/>
                </a:solidFill>
              </a:rPr>
              <a:t>    – SAM3 (zero-shot 검출·분할)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58616B"/>
                </a:solidFill>
              </a:rPr>
              <a:t>    – 광학흐름 하이브리드 추적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58616B"/>
                </a:solidFill>
              </a:rPr>
              <a:t>    – Open3D OBB 6D 포즈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58616B"/>
                </a:solidFill>
              </a:rPr>
              <a:t>    – ROS 2 Jazzy · RealSense D455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14181D"/>
                </a:solidFill>
              </a:rPr>
              <a:t>• 공개 저장소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58616B"/>
                </a:solidFill>
              </a:rPr>
              <a:t>    – github.com/ingon1026/pose-anything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8616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</a:rPr>
              <a:t>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81D"/>
                </a:solidFill>
              </a:rPr>
              <a:t>기술 지형도 — 우리는 어디에 있나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88720" cy="96012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4181D"/>
                </a:solidFill>
              </a:rPr>
              <a:t>인식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691640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DBE9FB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A78D6"/>
                </a:solidFill>
              </a:rPr>
              <a:t>SAM3 (현재)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691640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4181D"/>
                </a:solidFill>
              </a:rPr>
              <a:t>YOLOE / YOLO-World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4181D"/>
                </a:solidFill>
              </a:rPr>
              <a:t>DINO-X / G-DINO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679192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8616B"/>
                </a:solidFill>
              </a:rPr>
              <a:t>무거운 만능 ↔ 가벼운 특화 스펙트럼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64408"/>
            <a:ext cx="1188720" cy="96012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4181D"/>
                </a:solidFill>
              </a:rPr>
              <a:t>자세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264408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DBE9FB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A78D6"/>
                </a:solidFill>
              </a:rPr>
              <a:t>기하 OBB (현재)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3264408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4181D"/>
                </a:solidFill>
              </a:rPr>
              <a:t>참조기반 6D (SinRef 등)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64408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4181D"/>
                </a:solidFill>
              </a:rPr>
              <a:t>CAD기반 6D / grasp직결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25196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8616B"/>
                </a:solidFill>
              </a:rPr>
              <a:t>요구 없는 canonical pose는 비용만 증가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37176"/>
            <a:ext cx="1188720" cy="96012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4181D"/>
                </a:solidFill>
              </a:rPr>
              <a:t>배포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4837176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DBE9FB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A78D6"/>
                </a:solidFill>
              </a:rPr>
              <a:t>GPU 서버 상시추론 (현재)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4837176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E2F2E8"/>
          </a:solidFill>
          <a:ln w="12700">
            <a:solidFill>
              <a:srgbClr val="1F8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8F4D"/>
                </a:solidFill>
              </a:rPr>
              <a:t>증류 → 엣지 (제안)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837176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14181D"/>
                </a:solidFill>
              </a:rPr>
              <a:t>클라우드 오프로딩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824728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8616B"/>
                </a:solidFill>
              </a:rPr>
              <a:t>산업 표준: 파운데이션 teacher → 경량 student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8616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</a:rPr>
              <a:t>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81D"/>
                </a:solidFill>
              </a:rPr>
              <a:t>SAM3 상시 추론의 구조적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181D"/>
                </a:solidFill>
              </a:rPr>
              <a:t>SAM3는 8.5억 파라미터 모델을 매 프레임 돌리는 구조 — "teacher로는 최적, worker로는 과체중"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110642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219"/>
                <a:gridCol w="5280660"/>
                <a:gridCol w="402335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한계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내용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이미 시도한 완화책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속도 상한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키프레임 150ms → 하이브리드로도 ~10 FPS가 한계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bf16(3.7배)·하이브리드(2.8배) 적용 완료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GPU 상주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VRAM 4GB+ 상시 점유, 라인 증설 시 GPU 수만큼 비용 증가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엣지 불가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Jetson급 장비에서 실시간 불가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해상도 축소는 소형 물체 소실로 기각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97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A78D6"/>
                </a:solidFill>
              </a:rPr>
              <a:t>→ 결론: 현재 구조의 최적화는 완료 단계. 다음 도약은 모델을 더 조이는 게 아니라 역할을 바꾸는 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8616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</a:rPr>
              <a:t>속도·엣지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81D"/>
                </a:solidFill>
              </a:rPr>
              <a:t>개선 축 1 — SAM3 증류 파이프라인 (핵심 제안)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514600" cy="1005840"/>
          </a:xfrm>
          <a:prstGeom prst="roundRect">
            <a:avLst>
              <a:gd name="adj" fmla="val 8000"/>
            </a:avLst>
          </a:prstGeom>
          <a:solidFill>
            <a:srgbClr val="DBE9FB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2A78D6"/>
                </a:solidFill>
              </a:rPr>
              <a:t>SAM3</a:t>
            </a:r>
          </a:p>
          <a:p>
            <a:pPr algn="ctr"/>
            <a:r>
              <a:rPr sz="1400" b="0">
                <a:solidFill>
                  <a:srgbClr val="2A78D6"/>
                </a:solidFill>
              </a:rPr>
              <a:t>오프라인 자동 라벨링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90672" y="2103120"/>
            <a:ext cx="365760" cy="0"/>
          </a:xfrm>
          <a:prstGeom prst="bentConnector3">
            <a:avLst/>
          </a:prstGeom>
          <a:ln w="22225">
            <a:solidFill>
              <a:srgbClr val="58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93008" y="1600200"/>
            <a:ext cx="2514600" cy="1005840"/>
          </a:xfrm>
          <a:prstGeom prst="roundRect">
            <a:avLst>
              <a:gd name="adj" fmla="val 8000"/>
            </a:avLst>
          </a:prstGeom>
          <a:solidFill>
            <a:srgbClr val="E2F2E8"/>
          </a:solidFill>
          <a:ln w="12700">
            <a:solidFill>
              <a:srgbClr val="1F8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8F4D"/>
                </a:solidFill>
              </a:rPr>
              <a:t>경량 YOLO 학습</a:t>
            </a:r>
          </a:p>
          <a:p>
            <a:pPr algn="ctr"/>
            <a:r>
              <a:rPr sz="1400" b="0">
                <a:solidFill>
                  <a:srgbClr val="1F8F4D"/>
                </a:solidFill>
              </a:rPr>
              <a:t>(YOLOE / YOLOv8-seg)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0" y="2103120"/>
            <a:ext cx="365760" cy="0"/>
          </a:xfrm>
          <a:prstGeom prst="bentConnector3">
            <a:avLst/>
          </a:prstGeom>
          <a:ln w="22225">
            <a:solidFill>
              <a:srgbClr val="58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37376" y="1600200"/>
            <a:ext cx="2514600" cy="1005840"/>
          </a:xfrm>
          <a:prstGeom prst="roundRect">
            <a:avLst>
              <a:gd name="adj" fmla="val 8000"/>
            </a:avLst>
          </a:prstGeom>
          <a:solidFill>
            <a:srgbClr val="E2F2E8"/>
          </a:solidFill>
          <a:ln w="12700">
            <a:solidFill>
              <a:srgbClr val="1F8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8F4D"/>
                </a:solidFill>
              </a:rPr>
              <a:t>TensorRT 변환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79408" y="2103120"/>
            <a:ext cx="365760" cy="0"/>
          </a:xfrm>
          <a:prstGeom prst="bentConnector3">
            <a:avLst/>
          </a:prstGeom>
          <a:ln w="22225">
            <a:solidFill>
              <a:srgbClr val="58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381744" y="1600200"/>
            <a:ext cx="2514600" cy="1005840"/>
          </a:xfrm>
          <a:prstGeom prst="roundRect">
            <a:avLst>
              <a:gd name="adj" fmla="val 8000"/>
            </a:avLst>
          </a:prstGeom>
          <a:solidFill>
            <a:srgbClr val="FBE9DE"/>
          </a:solidFill>
          <a:ln w="12700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D95926"/>
                </a:solidFill>
              </a:rPr>
              <a:t>엣지 배포</a:t>
            </a:r>
          </a:p>
          <a:p>
            <a:pPr algn="ctr"/>
            <a:r>
              <a:rPr sz="1400" b="0">
                <a:solidFill>
                  <a:srgbClr val="D95926"/>
                </a:solidFill>
              </a:rPr>
              <a:t>100+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14181D"/>
                </a:solidFill>
              </a:rPr>
              <a:t>• 왜 지금 우리에게 유리한가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58616B"/>
                </a:solidFill>
              </a:rPr>
              <a:t>    – 파이프라인 전반부가 이미 완성 — bag 수집 체계 + SAM3 프롬프트 노하우 + 마스크 자동 생성 코드 보유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58616B"/>
                </a:solidFill>
              </a:rPr>
              <a:t>    – 사람 라벨링 0장: SAM3가 pseudo-label 생성 → 물체 추가 = 프롬프트 추가 + 재학습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14181D"/>
                </a:solidFill>
              </a:rPr>
              <a:t>• 검증된 선례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58616B"/>
                </a:solidFill>
              </a:rPr>
              <a:t>    – SAM3 → YOLOv8m 증류: mAP 79.4%, 추론 지연 약 200배 감소 (arXiv 2605.25860, 2026)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58616B"/>
                </a:solidFill>
              </a:rPr>
              <a:t>    – autodistill 등 공개 프레임워크로 파이프라인 표준화 진행 중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14181D"/>
                </a:solidFill>
              </a:rPr>
              <a:t>• 얻는 것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58616B"/>
                </a:solidFill>
              </a:rPr>
              <a:t>    – 라인 카메라당 GPU 서버 → 저가 엣지 장비, 100+ FPS로 고속 컨베이어 대응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58616B"/>
                </a:solidFill>
              </a:rPr>
              <a:t>    – SAM3는 신규 물체 등록·재라벨링 전용(오프라인)으로 역할 전환 — 지금 시스템은 그대로 teacher가 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8616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</a:rPr>
              <a:t>속도·엣지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81D"/>
                </a:solidFill>
              </a:rPr>
              <a:t>증류 파이프라인 실행 계획 (4단계)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567"/>
                <a:gridCol w="5640592"/>
                <a:gridCol w="1301675"/>
                <a:gridCol w="2386404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단계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내용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기간(안)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산출물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① 데이터 수집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현장 bag 대량 녹화 — 물체·조명·속도 다양화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1주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장면 bag 세트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② 자동 라벨링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SAM3 pseudo-label 생성 (기존 offline 파이프라인 재사용)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3일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세그멘테이션 데이터셋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③ 학생 모델 학습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YOLOE 또는 YOLOv8-seg 학습 + SAM3 대비 정확도 검증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1주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경량 모델 (mAP 리포트)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④ 엣지 검증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TensorRT 변환 → 타겟 장비 실측 (FPS·정확도·온도)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1주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배포 패키지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77639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14181D"/>
                </a:solidFill>
              </a:rPr>
              <a:t>• 전제 조건: 엣지 타겟 하드웨어 확정 (Jetson Orin? 산업 PC+소형 GPU?) — 슬라이드 10 의사결정 항목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14181D"/>
                </a:solidFill>
              </a:rPr>
              <a:t>• 리스크: pseudo-label 품질이 상한 — SAM3 프롬프트 튜닝(기보유 노하우)으로 관리, 불량 라벨 필터링 단계 포함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14181D"/>
                </a:solidFill>
              </a:rPr>
              <a:t>• 착수 시점(안): 로봇 연동(9월 초) 안정화 후 9월 중순 — 그 전에 ①번 데이터 수집은 병행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8616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</a:rPr>
              <a:t>정확도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81D"/>
                </a:solidFill>
              </a:rPr>
              <a:t>개선 축 2 — 정확도·신뢰성 3종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181"/>
                <a:gridCol w="4741817"/>
                <a:gridCol w="2568484"/>
                <a:gridCol w="1975757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항목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내용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착수 트리거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일정(안)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절대 자세 검증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ArUco 지그로 참값 확보 → RPY 절대 오차 측정 (현재 유일한 미검증 항목)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지그 제작만 하면 즉시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8/18~22 (WBS 7.8)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가림 대응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가림 시 score 급락 감지 → 트랙 동결·복구 (오검출 좌표 발행 방지)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가림 bag 녹화 (8/11 예정)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8/11~13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칼만 지연 보정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이동 물체 위치 지연(~2cm) 제거 + 그립 시점 위치 예측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지연 제거는 즉시 가능, 예측은 로봇 사양 필요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8/13~15 + 9월 튜닝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8616B"/>
                </a:solidFill>
              </a:rPr>
              <a:t>포인트: 셋 다 "새 기능"이 아니라 로봇 연동 전에 메워야 할 신뢰성 항목 —
9월 실물·연동 주간(WBS 7.3~7.5)에 들어가기 전 완료가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8616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</a:rPr>
              <a:t>검토 이력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81D"/>
                </a:solidFill>
              </a:rPr>
              <a:t>검토했고, 근거를 갖고 보류한 것들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808"/>
                <a:gridCol w="5419219"/>
                <a:gridCol w="3161211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181D"/>
                          </a:solidFill>
                        </a:rPr>
                        <a:t>대안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181D"/>
                          </a:solidFill>
                        </a:rPr>
                        <a:t>검토 결과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181D"/>
                          </a:solidFill>
                        </a:rPr>
                        <a:t>재검토 조건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81D"/>
                          </a:solidFill>
                        </a:rPr>
                        <a:t>SinRef-6D (참조기반 6D)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81D"/>
                          </a:solidFill>
                        </a:rPr>
                        <a:t>canonical pose는 현 태스크(위치·크기 파지)에 불필요 — CUDA 빌드 5개·참조뷰 관리 비용 &gt; 실익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81D"/>
                          </a:solidFill>
                        </a:rPr>
                        <a:t>"방향 맞춰 조립·라벨 면 정렬" 요구 발생 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81D"/>
                          </a:solidFill>
                        </a:rPr>
                        <a:t>입력 해상도 축소 (1008→560px)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81D"/>
                          </a:solidFill>
                        </a:rPr>
                        <a:t>추론 2.2배 빨라지나 스마트폰급 소형 물체 검출 완전 소실 (실측)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81D"/>
                          </a:solidFill>
                        </a:rPr>
                        <a:t>대상 물체가 전부 대형으로 확정될 때 (옵션 제공 중)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81D"/>
                          </a:solidFill>
                        </a:rPr>
                        <a:t>torch.compile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81D"/>
                          </a:solidFill>
                        </a:rPr>
                        <a:t>이득 7%에 시작 시 워밍업 30초 — 수지 불일치 (실측)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81D"/>
                          </a:solidFill>
                        </a:rPr>
                        <a:t>장시간 무중단 가동 확정 시 (옵션 제공 중)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81D"/>
                          </a:solidFill>
                        </a:rPr>
                        <a:t>SAM 3.1 전환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81D"/>
                          </a:solidFill>
                        </a:rPr>
                        <a:t>개선점(다중 객체 추적 가속)이 물체 2~4개 규모에선 무의미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81D"/>
                          </a:solidFill>
                        </a:rPr>
                        <a:t>추적 물체 수십 개로 확대 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A78D6"/>
                </a:solidFill>
              </a:rPr>
              <a:t>→ 전부 실측·조사 근거 보유 — "안 한 것"이 아니라 "하지 않기로 결정한 것"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8616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81D"/>
                </a:solidFill>
              </a:rPr>
              <a:t>통합 로드맵 (8월 → 10월)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58616B"/>
                </a:solidFill>
              </a:rPr>
              <a:t>8월 중순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6552" y="14630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58616B"/>
                </a:solidFill>
              </a:rPr>
              <a:t>8월 하순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4304" y="14630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58616B"/>
                </a:solidFill>
              </a:rPr>
              <a:t>9월 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92056" y="14630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58616B"/>
                </a:solidFill>
              </a:rPr>
              <a:t>9월 중순~10월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143000" cy="77724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4181D"/>
                </a:solidFill>
              </a:rPr>
              <a:t>신뢰성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975104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E2F2E8"/>
          </a:solidFill>
          <a:ln w="12700">
            <a:solidFill>
              <a:srgbClr val="1F8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F8F4D"/>
                </a:solidFill>
              </a:rPr>
              <a:t>가림 대응 + 칼만 (8/11~15)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975104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E2F2E8"/>
          </a:solidFill>
          <a:ln w="12700">
            <a:solidFill>
              <a:srgbClr val="1F8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F8F4D"/>
                </a:solidFill>
              </a:rPr>
              <a:t>ArUco 절대 검증 (8/18~22)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1143000" cy="77724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4181D"/>
                </a:solidFill>
              </a:rPr>
              <a:t>로봇 연동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4304" y="3118104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DBE9FB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2A78D6"/>
                </a:solidFill>
              </a:rPr>
              <a:t>실물 검증·ROS2 연동 (WBS 7.3~7.5 정렬)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1143000" cy="777240"/>
          </a:xfrm>
          <a:prstGeom prst="roundRect">
            <a:avLst>
              <a:gd name="adj" fmla="val 8000"/>
            </a:avLst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4181D"/>
                </a:solidFill>
              </a:rPr>
              <a:t>증류·엣지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4261103"/>
            <a:ext cx="1728216" cy="658368"/>
          </a:xfrm>
          <a:prstGeom prst="roundRect">
            <a:avLst>
              <a:gd name="adj" fmla="val 8000"/>
            </a:avLst>
          </a:prstGeom>
          <a:solidFill>
            <a:srgbClr val="FBE9DE"/>
          </a:solidFill>
          <a:ln w="12700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D95926"/>
                </a:solidFill>
              </a:rPr>
              <a:t>데이터 수집 병행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92056" y="4261103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BE9DE"/>
          </a:solidFill>
          <a:ln w="12700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D95926"/>
                </a:solidFill>
              </a:rPr>
              <a:t>증류 파이프라인 4단계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8616B"/>
                </a:solidFill>
              </a:rPr>
              <a:t>원칙: 각 항목은 선행 조건(트리거)이 채워지는 시점에 배치 — 작업량이 아니라 의존성이 일정을 정함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8616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A78D6"/>
                </a:solidFill>
              </a:rPr>
              <a:t>의사결정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181D"/>
                </a:solidFill>
              </a:rPr>
              <a:t>확인·결정이 필요한 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328"/>
                <a:gridCol w="4425696"/>
                <a:gridCol w="4425696"/>
                <a:gridCol w="163051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#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결정 사항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왜 필요한가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81D"/>
                          </a:solidFill>
                        </a:rPr>
                        <a:t>희망 시점</a:t>
                      </a:r>
                    </a:p>
                  </a:txBody>
                  <a:tcPr marL="73152" marR="73152" marT="27432" marB="27432">
                    <a:solidFill>
                      <a:srgbClr val="F0F3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엣지 타겟 하드웨어 (Jetson Orin / 산업PC+GPU 등)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증류 파이프라인 ④단계와 모델 크기 선택이 여기 의존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8월 내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증류 파이프라인 착수 승인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9월 중순 착수 시 10월 내 엣지 PoC 가능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9월 초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그리퍼 허용 오차·동작 지연 스펙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칼만 예측·정밀 튜닝의 목표값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로봇 연동 시작 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현장 데이터 수집 협조 (컨베이어 가동 시간)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증류 ①단계 + 가림 bag — 다양한 물체·조명 필요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81D"/>
                          </a:solidFill>
                        </a:rPr>
                        <a:t>수시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A78D6"/>
                </a:solidFill>
              </a:rPr>
              <a:t>요약: 현 시스템은 완성 — 다음 반년의 방향은 "신뢰성 마감(8월) → 로봇 연동(9월) → 증류·엣지(9~10월)"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8616B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