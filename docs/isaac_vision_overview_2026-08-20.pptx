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ion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6035040" cy="3394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9DC3E6"/>
                </a:solidFill>
                <a:latin typeface="맑은 고딕"/>
              </a:rPr>
              <a:t>디지털 트윈으로</a:t>
            </a:r>
          </a:p>
          <a:p>
            <a:pPr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맑은 고딕"/>
              </a:rPr>
              <a:t>컨베이어 인식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1828800" cy="4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BDD7EE"/>
                </a:solidFill>
                <a:latin typeface="맑은 고딕"/>
              </a:rPr>
              <a:t>Isaac Sim  ×  SAM 3  ×  ROS 2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7FA6C9"/>
                </a:solidFill>
                <a:latin typeface="맑은 고딕"/>
              </a:rPr>
              <a:t>2026-08-20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목적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맑은 고딕"/>
              </a:rPr>
              <a:t>글자로 물체를 지정하면 → 로봇이 집을 3D 자세가 나온다</a:t>
            </a:r>
          </a:p>
        </p:txBody>
      </p:sp>
      <p:pic>
        <p:nvPicPr>
          <p:cNvPr id="5" name="Picture 4" descr="block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577840" cy="1735328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37470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입력은 이 한 줄 —  "blue bar with holes"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77639"/>
            <a:ext cx="1325880" cy="7315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</a:rPr>
              <a:t>위치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x · y · 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3977639"/>
            <a:ext cx="1325880" cy="7315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</a:rPr>
              <a:t>크기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w · d · 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977639"/>
            <a:ext cx="1325880" cy="7315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</a:rPr>
              <a:t>방향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roll·pitch·yaw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977639"/>
            <a:ext cx="1325880" cy="7315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1F3864"/>
                </a:solidFill>
                <a:latin typeface="맑은 고딕"/>
              </a:rPr>
              <a:t>신뢰도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covariance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65960"/>
            <a:ext cx="5394960" cy="1143000"/>
          </a:xfrm>
          <a:prstGeom prst="roundRect">
            <a:avLst/>
          </a:prstGeom>
          <a:solidFill>
            <a:srgbClr val="E8F2E2"/>
          </a:solidFill>
          <a:ln w="15875">
            <a:solidFill>
              <a:srgbClr val="375A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700" b="1">
                <a:solidFill>
                  <a:srgbClr val="375A23"/>
                </a:solidFill>
                <a:latin typeface="맑은 고딕"/>
              </a:rPr>
              <a:t>학습 없음 · CAD 없음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595959"/>
                </a:solidFill>
                <a:latin typeface="맑은 고딕"/>
              </a:rPr>
              <a:t>새 물체는 코드가 아니라 «단어» 를 바꾼다.
재학습 며칠  →  타이핑 3 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91840"/>
            <a:ext cx="5394960" cy="9601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맑은 고딕"/>
              </a:rPr>
              <a:t>시뮬레이터를 쓰는 이유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실물은 «얼마나 안 흔들리나» 만 잰다.
시뮬은 «정답» 을 알려준다</a:t>
            </a:r>
          </a:p>
        </p:txBody>
      </p:sp>
      <p:pic>
        <p:nvPicPr>
          <p:cNvPr id="13" name="Picture 12" descr="motion_2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315968"/>
            <a:ext cx="3931920" cy="1202705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040880" y="55643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벨트 구동 — 이동해도 같은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97880"/>
            <a:ext cx="11247120" cy="566928"/>
          </a:xfrm>
          <a:prstGeom prst="roundRect">
            <a:avLst/>
          </a:prstGeom>
          <a:solidFill>
            <a:srgbClr val="E8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75A23"/>
                </a:solidFill>
                <a:latin typeface="맑은 고딕"/>
              </a:rPr>
              <a:t>벨트를 돌리며 인식 → 정답 좌표와 대조 → 오차를 mm 로 말할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① 시뮬레이션 구축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맑은 고딕"/>
              </a:rPr>
              <a:t>NVIDIA Isaac Sim 6.0.1</a:t>
            </a:r>
          </a:p>
        </p:txBody>
      </p:sp>
      <p:pic>
        <p:nvPicPr>
          <p:cNvPr id="5" name="Picture 4" descr="isaa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852160" cy="329184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457200" y="4434840"/>
            <a:ext cx="5852160" cy="68580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맑은 고딕"/>
              </a:rPr>
              <a:t>XR기술융합팀 제공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컨베이어 · 로봇 팔 · 작업물 3D 모델(USD)  →  그대로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우리가 얹은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5120640" cy="9601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가상 RGB-D 카메라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벨트 위 1 m · 수직 하방 · 640×360
컬러+깊이를 ROS 2 토픽으로 발행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926080"/>
            <a:ext cx="5120640" cy="9601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컨베이어 구동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벨트 속도를 코드로 지정 (m/s)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023360"/>
            <a:ext cx="5120640" cy="9601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원격 제어 브리지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HTTP 로 속도·로봇팔·재생 조작
→ 실험 전체를 스크립트로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120640"/>
            <a:ext cx="5120640" cy="640080"/>
          </a:xfrm>
          <a:prstGeom prst="roundRect">
            <a:avLst/>
          </a:prstGeom>
          <a:solidFill>
            <a:srgbClr val="E8F2E2"/>
          </a:solidFill>
          <a:ln w="15875">
            <a:solidFill>
              <a:srgbClr val="375A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375A23"/>
                </a:solidFill>
                <a:latin typeface="맑은 고딕"/>
              </a:rPr>
              <a:t>카메라 높이 정확히 1.000 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깊이 실측이 로봇 베이스 높이와 일치 — 씬을 제대로 보고 있다는 교차검증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47120" cy="566928"/>
          </a:xfrm>
          <a:prstGeom prst="roundRect">
            <a:avLst/>
          </a:prstGeom>
          <a:solidFill>
            <a:srgbClr val="E8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75A23"/>
                </a:solidFill>
                <a:latin typeface="맑은 고딕"/>
              </a:rPr>
              <a:t>씬은 받아 쓰고, «센서와 제어» 만 우리가 붙였다.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② ROS 2 브리지 연결·튜닝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맑은 고딕"/>
              </a:rPr>
              <a:t>토픽 이름·형식을 실제 RealSense 와 똑같이 → 비전 코드 수정 11 줄</a:t>
            </a:r>
          </a:p>
        </p:txBody>
      </p:sp>
      <p:pic>
        <p:nvPicPr>
          <p:cNvPr id="5" name="Picture 4" descr="isaac_ros2_graph_2026-08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309360" cy="1699299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040880" y="1554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0504D"/>
                </a:solidFill>
                <a:latin typeface="맑은 고딕"/>
              </a:rPr>
              <a:t>튜닝 — 무엇이 문제였나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65960"/>
            <a:ext cx="4663440" cy="914400"/>
          </a:xfrm>
          <a:prstGeom prst="roundRect">
            <a:avLst/>
          </a:prstGeom>
          <a:solidFill>
            <a:srgbClr val="FDF0EF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C0504D"/>
                </a:solidFill>
                <a:latin typeface="맑은 고딕"/>
              </a:rPr>
              <a:t>영상이 초당 1.3 장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깊이 한 장이 63 KB 씩 15 조각으로 쪼개져
하나만 잃으면 재전송을 3 초 기다린다</a:t>
            </a:r>
          </a:p>
        </p:txBody>
      </p:sp>
      <p:sp>
        <p:nvSpPr>
          <p:cNvPr id="8" name="Down Arrow 7"/>
          <p:cNvSpPr/>
          <p:nvPr/>
        </p:nvSpPr>
        <p:spPr>
          <a:xfrm>
            <a:off x="9052560" y="2971800"/>
            <a:ext cx="640080" cy="411480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3474720"/>
            <a:ext cx="4663440" cy="914400"/>
          </a:xfrm>
          <a:prstGeom prst="roundRect">
            <a:avLst/>
          </a:prstGeom>
          <a:solidFill>
            <a:srgbClr val="E8F2E2"/>
          </a:solidFill>
          <a:ln w="15875">
            <a:solidFill>
              <a:srgbClr val="375A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375A23"/>
                </a:solidFill>
                <a:latin typeface="맑은 고딕"/>
              </a:rPr>
              <a:t>영상만 TCP 로 전환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설정 한 줄(LARGE_DATA). 탐색은 UDP 유지.
Isaac·WSL 양쪽에 넣어야 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572000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39 Hz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1.3 Hz 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4572000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0.03 초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최대 끊김 (7~9 초에서)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4572000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100 %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컬러·깊이 짝짓기 (11 %에서)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97880"/>
            <a:ext cx="11247120" cy="566928"/>
          </a:xfrm>
          <a:prstGeom prst="roundRect">
            <a:avLst/>
          </a:prstGeom>
          <a:solidFill>
            <a:srgbClr val="E8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75A23"/>
                </a:solidFill>
                <a:latin typeface="맑은 고딕"/>
              </a:rPr>
              <a:t>실사용 23~27 Hz 안정 동작. 컬러·깊이가 같은 렌더 틱이라 시각차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③ 비전 시스템 — 어떤 모델을 어떻게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or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309360" cy="1758026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17534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입력 — 컬러 + 깊이 (같은 시각·같은 픽셀)</a:t>
            </a:r>
          </a:p>
        </p:txBody>
      </p:sp>
      <p:pic>
        <p:nvPicPr>
          <p:cNvPr id="6" name="Picture 5" descr="vision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6309360" cy="640794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4481274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출력 — 물체마다 3D 상자·좌표·크기·각도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389888"/>
            <a:ext cx="4663440" cy="932688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맑은 고딕"/>
              </a:rPr>
              <a:t>SAM 3   </a:t>
            </a:r>
            <a:r>
              <a:rPr sz="1000">
                <a:solidFill>
                  <a:srgbClr val="595959"/>
                </a:solidFill>
                <a:latin typeface="맑은 고딕"/>
              </a:rPr>
              <a:t>Meta · 848M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글자로 물체를 찾고 잘라낸다</a:t>
            </a:r>
          </a:p>
        </p:txBody>
      </p:sp>
      <p:sp>
        <p:nvSpPr>
          <p:cNvPr id="9" name="Down Arrow 8"/>
          <p:cNvSpPr/>
          <p:nvPr/>
        </p:nvSpPr>
        <p:spPr>
          <a:xfrm>
            <a:off x="9144000" y="2350008"/>
            <a:ext cx="457200" cy="100584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2468880"/>
            <a:ext cx="4663440" cy="932688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맑은 고딕"/>
              </a:rPr>
              <a:t>LK 광학흐름   </a:t>
            </a:r>
            <a:r>
              <a:rPr sz="1000">
                <a:solidFill>
                  <a:srgbClr val="595959"/>
                </a:solidFill>
                <a:latin typeface="맑은 고딕"/>
              </a:rPr>
              <a:t>OpenCV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5 프레임에 1 번만 SAM3, 사이는 마스크를 민다  →  3~4 배 빠름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144000" y="3429000"/>
            <a:ext cx="457200" cy="100584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3547872"/>
            <a:ext cx="4663440" cy="932688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맑은 고딕"/>
              </a:rPr>
              <a:t>Open3D OBB   </a:t>
            </a:r>
            <a:r>
              <a:rPr sz="1000">
                <a:solidFill>
                  <a:srgbClr val="595959"/>
                </a:solidFill>
                <a:latin typeface="맑은 고딕"/>
              </a:rPr>
              <a:t>PCA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마스크+깊이를 3D 점으로 펴고 상자를 씌운다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4000" y="4507992"/>
            <a:ext cx="457200" cy="100584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0" y="4626864"/>
            <a:ext cx="4663440" cy="932688"/>
          </a:xfrm>
          <a:prstGeom prst="roundRect">
            <a:avLst/>
          </a:prstGeom>
          <a:solidFill>
            <a:srgbClr val="E8F2E2"/>
          </a:solidFill>
          <a:ln w="15875">
            <a:solidFill>
              <a:srgbClr val="375A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500" b="1">
                <a:solidFill>
                  <a:srgbClr val="375A23"/>
                </a:solidFill>
                <a:latin typeface="맑은 고딕"/>
              </a:rPr>
              <a:t>칼만 융합 필터   </a:t>
            </a:r>
            <a:r>
              <a:rPr sz="1000">
                <a:solidFill>
                  <a:srgbClr val="595959"/>
                </a:solidFill>
                <a:latin typeface="맑은 고딕"/>
              </a:rPr>
              <a:t>자체 구현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맑은 고딕"/>
              </a:rPr>
              <a:t>«이 관측을 믿어도 되나» 통계 판정.  못 믿으면 발행 중단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97880"/>
            <a:ext cx="11247120" cy="566928"/>
          </a:xfrm>
          <a:prstGeom prst="roundRect">
            <a:avLst/>
          </a:prstGeom>
          <a:solidFill>
            <a:srgbClr val="E8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75A23"/>
                </a:solidFill>
                <a:latin typeface="맑은 고딕"/>
              </a:rPr>
              <a:t>학습·CAD 없이 프롬프트만으로 임의 물체 → 파지 가능한 3D 자세.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맑은 고딕"/>
              </a:rPr>
              <a:t>시뮬 정답과 직접 비교</a:t>
            </a:r>
          </a:p>
        </p:txBody>
      </p:sp>
      <p:pic>
        <p:nvPicPr>
          <p:cNvPr id="5" name="Picture 4" descr="vision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1142286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255960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블록 8 개 동시 추적 — 물체마다 3D 상자·좌표·크기·각도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정지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± 1 mm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위치 오차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160520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199~205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길이 mm (정답 200)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60520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0 회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축 뒤집힘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이동 중 (오늘 처음)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160520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42.7 mm/s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속도 추정 (정답과 일치)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160520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2.0 mm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등속선 이탈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4160520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75A23"/>
                </a:solidFill>
                <a:latin typeface="맑은 고딕"/>
              </a:rPr>
              <a:t>0 회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맑은 고딕"/>
              </a:rPr>
              <a:t>발행 끊김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97880"/>
            <a:ext cx="11247120" cy="566928"/>
          </a:xfrm>
          <a:prstGeom prst="roundRect">
            <a:avLst/>
          </a:prstGeom>
          <a:solidFill>
            <a:srgbClr val="E8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75A23"/>
                </a:solidFill>
                <a:latin typeface="맑은 고딕"/>
              </a:rPr>
              <a:t>다음 — 로봇 팔로 «이동 + 가림» 을 만들어 실제 라인 조건에 한 걸음 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