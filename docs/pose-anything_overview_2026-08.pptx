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54864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1F3864"/>
                </a:solidFill>
              </a:rPr>
              <a:t>pose-anything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9260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E75B6"/>
                </a:solidFill>
              </a:rPr>
              <a:t>텍스트 한 줄로 임의 물체의 3D 자세를 추정하는 로봇 인식 시스템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56616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595959"/>
                </a:solidFill>
              </a:rPr>
              <a:t>"물통 찾아줘" → 학습 없이 검출·추적 → 3D 위치·크기·방향 + 신뢰도 → 로봇 파지 입력</a:t>
            </a:r>
          </a:p>
          <a:p>
            <a:pPr algn="l"/>
            <a:r>
              <a:rPr sz="1500" b="0">
                <a:solidFill>
                  <a:srgbClr val="595959"/>
                </a:solidFill>
              </a:rPr>
              <a:t>SAM 3 (open-vocabulary) + RGB-D 기하 + 확률 융합 필터 + ROS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03504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</a:rPr>
              <a:t>2026. 08.  |  Vision AI R&amp;D  |  github.com/ingon1026/pose-anything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864"/>
                </a:solidFill>
              </a:rPr>
              <a:t>1. 프로젝트 목적 — 무엇을, 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47120" cy="28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34440"/>
            <a:ext cx="5760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1F3864"/>
                </a:solidFill>
              </a:rPr>
              <a:t>▪ 과제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95959"/>
                </a:solidFill>
              </a:rPr>
              <a:t>    컨베이어 위 물체를 로봇이 집으려면 물체의 3D 자세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95959"/>
                </a:solidFill>
              </a:rPr>
              <a:t>    (위치 xyz · 크기 w/d/h · 방향 RPY)를 실시간으로 알아야 한다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F3864"/>
                </a:solidFill>
              </a:rPr>
              <a:t>▪ 기존 방식의 벽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95959"/>
                </a:solidFill>
              </a:rPr>
              <a:t>    클래스별 데이터 수집·라벨링·재학습 필요 (물체 바뀔 때마다 반복)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95959"/>
                </a:solidFill>
              </a:rPr>
              <a:t>    CAD 모델 기반 6D 방식은 사전 3D 모델이 있어야 함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F3864"/>
                </a:solidFill>
              </a:rPr>
              <a:t>▪ 이 프로젝트의 답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95959"/>
                </a:solidFill>
              </a:rPr>
              <a:t>    라벨링·재학습·CAD 전부 없이 — 텍스트 프롬프트만 바꾸면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95959"/>
                </a:solidFill>
              </a:rPr>
              <a:t>    새 물체 대응. PoC 목표: '아무 물체나' 즉시 인식+자세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F3864"/>
                </a:solidFill>
              </a:rPr>
              <a:t>▪ 최종 소비자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95959"/>
                </a:solidFill>
              </a:rPr>
              <a:t>    로봇 팔 — Detection3DArray 토픽 (pose + covariance 신뢰도)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371600"/>
          <a:ext cx="51206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920240"/>
                <a:gridCol w="1828800"/>
              </a:tblGrid>
              <a:tr h="365760">
                <a:tc>
                  <a:txBody>
                    <a:bodyPr/>
                    <a:lstStyle/>
                    <a:p/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기존 학습 방식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pose-anything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</a:rPr>
                        <a:t>새 물체 추가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</a:rPr>
                        <a:t>데이터+재학습 (일 단위)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</a:rPr>
                        <a:t>단어 교체 (초 단위)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</a:rPr>
                        <a:t>3D 모델(CAD)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</a:rPr>
                        <a:t>방식에 따라 필요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</a:rPr>
                        <a:t>불필요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</a:rPr>
                        <a:t>출력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</a:rPr>
                        <a:t>2D 박스 or 6D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</a:rPr>
                        <a:t>3D OBB + 신뢰도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</a:rPr>
                        <a:t>엣지 배포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</a:rPr>
                        <a:t>가능(경량)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</a:rPr>
                        <a:t>GPU 필요 (증류 로드맵)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6080760"/>
            <a:ext cx="11247120" cy="594360"/>
          </a:xfrm>
          <a:prstGeom prst="roundRect">
            <a:avLst/>
          </a:prstGeom>
          <a:solidFill>
            <a:srgbClr val="E8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300" b="1">
                <a:solidFill>
                  <a:srgbClr val="375A23"/>
                </a:solidFill>
              </a:rPr>
              <a:t>쉽게 말하면 — ‘물체마다 학교를 새로 보내는’ 방식 대신, 이미 만물박사인 모델(SAM 3)에게 말로 시키는 방식입니다.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864"/>
                </a:solidFill>
              </a:rPr>
              <a:t>2. 전체 아키텍처 — 한 프레임의 여행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47120" cy="28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365760" y="2011680"/>
            <a:ext cx="1600200" cy="109728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0">
                <a:solidFill>
                  <a:srgbClr val="1F3864"/>
                </a:solidFill>
              </a:rPr>
              <a:t>RGB-D 입력</a:t>
            </a:r>
          </a:p>
          <a:p>
            <a:pPr algn="ctr"/>
            <a:r>
              <a:rPr sz="1100" b="0">
                <a:solidFill>
                  <a:srgbClr val="1F3864"/>
                </a:solidFill>
              </a:rPr>
              <a:t>RealSense D455</a:t>
            </a:r>
          </a:p>
          <a:p>
            <a:pPr algn="ctr"/>
            <a:r>
              <a:rPr sz="1100" b="0">
                <a:solidFill>
                  <a:srgbClr val="1F3864"/>
                </a:solidFill>
              </a:rPr>
              <a:t>(rosbag / 라이브)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40280" y="1325880"/>
            <a:ext cx="1874519" cy="1005840"/>
          </a:xfrm>
          <a:prstGeom prst="round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0">
                <a:solidFill>
                  <a:srgbClr val="1F3864"/>
                </a:solidFill>
              </a:rPr>
              <a:t>키프레임 (5프레임마다)</a:t>
            </a:r>
          </a:p>
          <a:p>
            <a:pPr algn="ctr"/>
            <a:r>
              <a:rPr sz="1100" b="0">
                <a:solidFill>
                  <a:srgbClr val="1F3864"/>
                </a:solidFill>
              </a:rPr>
              <a:t>SAM 3 텍스트 검출</a:t>
            </a:r>
          </a:p>
          <a:p>
            <a:pPr algn="ctr"/>
            <a:r>
              <a:rPr sz="1100" b="0">
                <a:solidFill>
                  <a:srgbClr val="1F3864"/>
                </a:solidFill>
              </a:rPr>
              <a:t>+ 분할 마스크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40280" y="2788920"/>
            <a:ext cx="1874519" cy="1005840"/>
          </a:xfrm>
          <a:prstGeom prst="round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0">
                <a:solidFill>
                  <a:srgbClr val="1F3864"/>
                </a:solidFill>
              </a:rPr>
              <a:t>중간 프레임</a:t>
            </a:r>
          </a:p>
          <a:p>
            <a:pPr algn="ctr"/>
            <a:r>
              <a:rPr sz="1100" b="0">
                <a:solidFill>
                  <a:srgbClr val="1F3864"/>
                </a:solidFill>
              </a:rPr>
              <a:t>광학흐름(LK)으로</a:t>
            </a:r>
          </a:p>
          <a:p>
            <a:pPr algn="ctr"/>
            <a:r>
              <a:rPr sz="1100" b="0">
                <a:solidFill>
                  <a:srgbClr val="1F3864"/>
                </a:solidFill>
              </a:rPr>
              <a:t>마스크 이동 추적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011680"/>
            <a:ext cx="1645920" cy="1097280"/>
          </a:xfrm>
          <a:prstGeom prst="roundRect">
            <a:avLst/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0">
                <a:solidFill>
                  <a:srgbClr val="1F3864"/>
                </a:solidFill>
              </a:rPr>
              <a:t>IoU 트래커</a:t>
            </a:r>
          </a:p>
          <a:p>
            <a:pPr algn="ctr"/>
            <a:r>
              <a:rPr sz="1100" b="0">
                <a:solidFill>
                  <a:srgbClr val="1F3864"/>
                </a:solidFill>
              </a:rPr>
              <a:t>ID 유지·재식별</a:t>
            </a:r>
          </a:p>
          <a:p>
            <a:pPr algn="ctr"/>
            <a:r>
              <a:rPr sz="1100" b="0">
                <a:solidFill>
                  <a:srgbClr val="1F3864"/>
                </a:solidFill>
              </a:rPr>
              <a:t>(ByteTrack·rescue)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2011680"/>
            <a:ext cx="1737360" cy="1097280"/>
          </a:xfrm>
          <a:prstGeom prst="roundRect">
            <a:avLst/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0">
                <a:solidFill>
                  <a:srgbClr val="1F3864"/>
                </a:solidFill>
              </a:rPr>
              <a:t>마스크+depth+K</a:t>
            </a:r>
          </a:p>
          <a:p>
            <a:pPr algn="ctr"/>
            <a:r>
              <a:rPr sz="1100" b="0">
                <a:solidFill>
                  <a:srgbClr val="1F3864"/>
                </a:solidFill>
              </a:rPr>
              <a:t>→ 점군 → PCA OBB</a:t>
            </a:r>
          </a:p>
          <a:p>
            <a:pPr algn="ctr"/>
            <a:r>
              <a:rPr sz="1100" b="0">
                <a:solidFill>
                  <a:srgbClr val="1F3864"/>
                </a:solidFill>
              </a:rPr>
              <a:t>(Open3D)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321040" y="2011680"/>
            <a:ext cx="1737360" cy="1097280"/>
          </a:xfrm>
          <a:prstGeom prst="round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0">
                <a:solidFill>
                  <a:srgbClr val="1F3864"/>
                </a:solidFill>
              </a:rPr>
              <a:t>확률 융합 필터</a:t>
            </a:r>
          </a:p>
          <a:p>
            <a:pPr algn="ctr"/>
            <a:r>
              <a:rPr sz="1100" b="0">
                <a:solidFill>
                  <a:srgbClr val="1F3864"/>
                </a:solidFill>
              </a:rPr>
              <a:t>칼만 + χ² 게이트</a:t>
            </a:r>
          </a:p>
          <a:p>
            <a:pPr algn="ctr"/>
            <a:r>
              <a:rPr sz="1100" b="0">
                <a:solidFill>
                  <a:srgbClr val="1F3864"/>
                </a:solidFill>
              </a:rPr>
              <a:t>(오염 관측 거부)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332720" y="2011680"/>
            <a:ext cx="1508760" cy="109728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0">
                <a:solidFill>
                  <a:srgbClr val="1F3864"/>
                </a:solidFill>
              </a:rPr>
              <a:t>ROS 2 발행</a:t>
            </a:r>
          </a:p>
          <a:p>
            <a:pPr algn="ctr"/>
            <a:r>
              <a:rPr sz="1100" b="0">
                <a:solidFill>
                  <a:srgbClr val="1F3864"/>
                </a:solidFill>
              </a:rPr>
              <a:t>pose+covariance</a:t>
            </a:r>
          </a:p>
          <a:p>
            <a:pPr algn="ctr"/>
            <a:r>
              <a:rPr sz="1100" b="0">
                <a:solidFill>
                  <a:srgbClr val="1F3864"/>
                </a:solidFill>
              </a:rPr>
              <a:t>RViz·CSV·영상</a:t>
            </a:r>
          </a:p>
        </p:txBody>
      </p:sp>
      <p:cxnSp>
        <p:nvCxnSpPr>
          <p:cNvPr id="11" name="Connector 10"/>
          <p:cNvCxnSpPr/>
          <p:nvPr/>
        </p:nvCxnSpPr>
        <p:spPr>
          <a:xfrm flipV="1">
            <a:off x="1965960" y="1828800"/>
            <a:ext cx="274320" cy="731520"/>
          </a:xfrm>
          <a:prstGeom prst="bentConnector3">
            <a:avLst/>
          </a:prstGeom>
          <a:ln w="254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965960" y="2560320"/>
            <a:ext cx="274320" cy="731520"/>
          </a:xfrm>
          <a:prstGeom prst="bentConnector3">
            <a:avLst/>
          </a:prstGeom>
          <a:ln w="254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114800" y="1828800"/>
            <a:ext cx="274320" cy="640080"/>
          </a:xfrm>
          <a:prstGeom prst="bentConnector3">
            <a:avLst/>
          </a:prstGeom>
          <a:ln w="254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4114800" y="2651760"/>
            <a:ext cx="274320" cy="640080"/>
          </a:xfrm>
          <a:prstGeom prst="bentConnector3">
            <a:avLst/>
          </a:prstGeom>
          <a:ln w="254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035040" y="2560320"/>
            <a:ext cx="274320" cy="0"/>
          </a:xfrm>
          <a:prstGeom prst="bentConnector3">
            <a:avLst/>
          </a:prstGeom>
          <a:ln w="254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046720" y="2560320"/>
            <a:ext cx="274320" cy="0"/>
          </a:xfrm>
          <a:prstGeom prst="bentConnector3">
            <a:avLst/>
          </a:prstGeom>
          <a:ln w="254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10058400" y="2560320"/>
            <a:ext cx="274320" cy="0"/>
          </a:xfrm>
          <a:prstGeom prst="bentConnector3">
            <a:avLst/>
          </a:prstGeom>
          <a:ln w="254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57200" y="384048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1F3864"/>
                </a:solidFill>
              </a:rPr>
              <a:t>▪ 설계 원칙 ① 무거운 모델은 가끔, 가벼운 기하는 매 프레임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95959"/>
                </a:solidFill>
              </a:rPr>
              <a:t>    SAM 3(848M)는 5프레임에 1번만 — 사이는 광학흐름이 메운다 (3 FPS → 9~13 FPS). 3D 자세는 매 프레임 그 프레임의 실제 depth로 재계산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F3864"/>
                </a:solidFill>
              </a:rPr>
              <a:t>▪ 설계 원칙 ② 인식(어디에 뭐가)과 기하(자세가 얼마)와 신뢰(믿을 만한가)를 분리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95959"/>
                </a:solidFill>
              </a:rPr>
              <a:t>    각 단계가 독립이라 문제가 생기면 그 층만 교체 가능 — 실제로 신뢰 층을 이진 게이트→확률 필터로 통째 교체했다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6080760"/>
            <a:ext cx="11247120" cy="594360"/>
          </a:xfrm>
          <a:prstGeom prst="roundRect">
            <a:avLst/>
          </a:prstGeom>
          <a:solidFill>
            <a:srgbClr val="E8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300" b="1">
                <a:solidFill>
                  <a:srgbClr val="375A23"/>
                </a:solidFill>
              </a:rPr>
              <a:t>쉽게 말하면 — 공장 라인의 검수 순서와 같습니다: 찾고(SAM) → 따라가고(흐름) → 치수 재고(OBB) → 검수하고(필터) → 출하(ROS).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864"/>
                </a:solidFill>
              </a:rPr>
              <a:t>3. 핵심 모델 — SAM 3 (Segment Anything Model 3)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47120" cy="28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Meta AI, 848M 파라미터, open-vocabulary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5943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1F3864"/>
                </a:solidFill>
              </a:rPr>
              <a:t>▪ 무엇을 하는 모델인가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95959"/>
                </a:solidFill>
              </a:rPr>
              <a:t>    텍스트(개념)를 주면 이미지에서 그 개념에 해당하는 모든 인스턴스를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95959"/>
                </a:solidFill>
              </a:rPr>
              <a:t>    검출 + 픽셀 단위 분할(마스크) — 학습에 없던 물체도 가능(제로샷)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F3864"/>
                </a:solidFill>
              </a:rPr>
              <a:t>▪ 어떻게 쓰는가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95959"/>
                </a:solidFill>
              </a:rPr>
              <a:t>    transformers의 Sam3Model + Sam3Processor / HF gated 체크포인트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95959"/>
                </a:solidFill>
              </a:rPr>
              <a:t>    프롬프트별 검출 → score threshold(기본 0.4)로 필터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F3864"/>
                </a:solidFill>
              </a:rPr>
              <a:t>▪ 우리가 한 최적화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95959"/>
                </a:solidFill>
              </a:rPr>
              <a:t>    bf16 추론 (fp32 대비 3.7× 속도) · 텍스트 임베딩 캐시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95959"/>
                </a:solidFill>
              </a:rPr>
              <a:t>    키프레임 전용 실행 (하이브리드) · 입력 해상도 1008 유지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F3864"/>
                </a:solidFill>
              </a:rPr>
              <a:t>▪ 한국어 프롬프트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95959"/>
                </a:solidFill>
              </a:rPr>
              <a:t>    PROMPT_ALIASES: "물통"→thermos 등 내부 매핑 (SAM3는 영어가 안정적)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675120" y="1463040"/>
          <a:ext cx="5029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65176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실험으로 배운 것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결과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</a:rPr>
                        <a:t>"water bottle" 프롬프트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</a:rPr>
                        <a:t>score 0.45 — 불안정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</a:rPr>
                        <a:t>"thermos"로 단어만 교체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</a:rPr>
                        <a:t>score 0.9 — 안정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</a:rPr>
                        <a:t>교훈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</a:rPr>
                        <a:t>threshold 튜닝보다</a:t>
                      </a:r>
                    </a:p>
                    <a:p>
                      <a:r>
                        <a:rPr sz="1100" b="0">
                          <a:solidFill>
                            <a:srgbClr val="595959"/>
                          </a:solidFill>
                        </a:rPr>
                        <a:t>프롬프트 단어가 먼저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</a:rPr>
                        <a:t>560px 축소 입력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</a:rPr>
                        <a:t>속도 2.2× ↑, 소형 물체 소실</a:t>
                      </a:r>
                    </a:p>
                    <a:p>
                      <a:r>
                        <a:rPr sz="1100" b="0">
                          <a:solidFill>
                            <a:srgbClr val="595959"/>
                          </a:solidFill>
                        </a:rPr>
                        <a:t>→ 기본 1008 유지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6080760"/>
            <a:ext cx="11247120" cy="594360"/>
          </a:xfrm>
          <a:prstGeom prst="roundRect">
            <a:avLst/>
          </a:prstGeom>
          <a:solidFill>
            <a:srgbClr val="E8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300" b="1">
                <a:solidFill>
                  <a:srgbClr val="375A23"/>
                </a:solidFill>
              </a:rPr>
              <a:t>쉽게 말하면 — ‘만능 가위’입니다 — 무엇을 오릴지는 말로 정해주고, 얼마나 확신할 때만 오릴지(threshold)만 조절합니다.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864"/>
                </a:solidFill>
              </a:rPr>
              <a:t>4. 하이브리드 검출·추적 — 9~13 FPS의 비밀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47120" cy="28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914400" cy="50292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400" b="1">
                <a:solidFill>
                  <a:srgbClr val="FFFFFF"/>
                </a:solidFill>
              </a:rPr>
              <a:t>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755648" y="1554480"/>
            <a:ext cx="914400" cy="50292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400" b="1">
                <a:solidFill>
                  <a:srgbClr val="595959"/>
                </a:solidFill>
              </a:rPr>
              <a:t>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71215" y="1554480"/>
            <a:ext cx="914400" cy="50292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400" b="1">
                <a:solidFill>
                  <a:srgbClr val="595959"/>
                </a:solidFill>
              </a:rPr>
              <a:t>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86784" y="1554480"/>
            <a:ext cx="914400" cy="50292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400" b="1">
                <a:solidFill>
                  <a:srgbClr val="595959"/>
                </a:solidFill>
              </a:rPr>
              <a:t>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02352" y="1554480"/>
            <a:ext cx="914400" cy="50292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400" b="1">
                <a:solidFill>
                  <a:srgbClr val="595959"/>
                </a:solidFill>
              </a:rPr>
              <a:t>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54480"/>
            <a:ext cx="914400" cy="502920"/>
          </a:xfrm>
          <a:prstGeom prst="round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400" b="1">
                <a:solidFill>
                  <a:srgbClr val="FFFFFF"/>
                </a:solidFill>
              </a:rPr>
              <a:t>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33488" y="1554480"/>
            <a:ext cx="914400" cy="50292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400" b="1">
                <a:solidFill>
                  <a:srgbClr val="595959"/>
                </a:solidFill>
              </a:rPr>
              <a:t>f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449055" y="1554480"/>
            <a:ext cx="914400" cy="50292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400" b="1">
                <a:solidFill>
                  <a:srgbClr val="595959"/>
                </a:solidFill>
              </a:rPr>
              <a:t>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564624" y="1554480"/>
            <a:ext cx="914400" cy="50292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400" b="1">
                <a:solidFill>
                  <a:srgbClr val="595959"/>
                </a:solidFill>
              </a:rPr>
              <a:t>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680192" y="1554480"/>
            <a:ext cx="914400" cy="50292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400" b="1">
                <a:solidFill>
                  <a:srgbClr val="595959"/>
                </a:solidFill>
              </a:rPr>
              <a:t>f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148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95959"/>
                </a:solidFill>
              </a:rPr>
              <a:t>K = 키프레임: SAM 3 실행 (~330ms)      f = 중간 프레임: 광학흐름만 (~10ms)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65176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1F3864"/>
                </a:solidFill>
              </a:rPr>
              <a:t>▪ 광학흐름(Lucas-Kanade)이 하는 일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95959"/>
                </a:solidFill>
              </a:rPr>
              <a:t>    마스크 안에서 무늬가 뚜렷한 점 ~300개를 골라 다음 프레임에서 어디로 갔는지 찾고,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95959"/>
                </a:solidFill>
              </a:rPr>
              <a:t>    이동량의 중앙값만큼 마스크·박스를 평행이동 — 물체를 '눈으로 따라가는' 것과 동일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F3864"/>
                </a:solidFill>
              </a:rPr>
              <a:t>▪ 왜 중앙값인가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95959"/>
                </a:solidFill>
              </a:rPr>
              <a:t>    일부 점이 배경·가리개에 붙어 틀려도 다수결(중앙값)이 이긴다 — 이상치에 강건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F3864"/>
                </a:solidFill>
              </a:rPr>
              <a:t>▪ 3D는 매 프레임 진짜 depth로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95959"/>
                </a:solidFill>
              </a:rPr>
              <a:t>    흐름은 2D 마스크만 옮기고, OBB는 그 프레임의 실제 depth로 다시 계산 — 자세가 5프레임씩 얼어붙지 않음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F3864"/>
                </a:solidFill>
              </a:rPr>
              <a:t>▪ 키프레임에서 보정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95959"/>
                </a:solidFill>
              </a:rPr>
              <a:t>    흐름의 누적 오차는 다음 SAM 검출이 리셋 — 실측: 흐름 표류는 키프레임 보정 점프의 1/5~1/10 수준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6080760"/>
            <a:ext cx="11247120" cy="594360"/>
          </a:xfrm>
          <a:prstGeom prst="roundRect">
            <a:avLst/>
          </a:prstGeom>
          <a:solidFill>
            <a:srgbClr val="E8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300" b="1">
                <a:solidFill>
                  <a:srgbClr val="375A23"/>
                </a:solidFill>
              </a:rPr>
              <a:t>쉽게 말하면 — 무거운 전문가(SAM)는 5번에 1번만 부르고, 사이엔 조수(광학흐름)가 눈으로 따라갑니다. 치수 측정은 매번 새로 합니다.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864"/>
                </a:solidFill>
              </a:rPr>
              <a:t>5. 2D 마스크 → 3D 자세 — 딥러닝 없는 순수 기하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47120" cy="28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60350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1F3864"/>
                </a:solidFill>
              </a:rPr>
              <a:t>▪ 입력 3가지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95959"/>
                </a:solidFill>
              </a:rPr>
              <a:t>    ① 분할 마스크(어느 픽셀이 물체인가) ② 정렬된 depth(픽셀별 거리 mm)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95959"/>
                </a:solidFill>
              </a:rPr>
              <a:t>    ③ 카메라 내참 K(픽셀↔실세계 각도 변환표)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F3864"/>
                </a:solidFill>
              </a:rPr>
              <a:t>▪ 역투영 (back-projection)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95959"/>
                </a:solidFill>
              </a:rPr>
              <a:t>    마스크 픽셀 (u,v) + 거리 z → 3D 점 (x,y,z)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95959"/>
                </a:solidFill>
              </a:rPr>
              <a:t>    x=(u−cx)·z/fx, y=(v−cy)·z/fy — 픽셀마다 하나씩, 점군 완성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F3864"/>
                </a:solidFill>
              </a:rPr>
              <a:t>▪ 노이즈 청소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95959"/>
                </a:solidFill>
              </a:rPr>
              <a:t>    마스크 가장자리 침식(erode) + 중앙값±3·MAD 밖 depth 제거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95959"/>
                </a:solidFill>
              </a:rPr>
              <a:t>    → 배경·컨베이어로 번진 점 삭제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F3864"/>
                </a:solidFill>
              </a:rPr>
              <a:t>▪ OBB (Oriented Bounding Box)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95959"/>
                </a:solidFill>
              </a:rPr>
              <a:t>    Open3D PCA: 점군이 가장 길게 퍼진 방향 = 물체의 축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95959"/>
                </a:solidFill>
              </a:rPr>
              <a:t>    → 중심 xyz · 크기 w/d/h · 회전 R(RPY) 동시 획득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766560" y="1554480"/>
          <a:ext cx="493776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2194560"/>
                <a:gridCol w="128016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출력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의미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실측 정밀도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</a:rPr>
                        <a:t>center xyz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</a:rPr>
                        <a:t>물체 중심 (카메라 좌표, 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</a:rPr>
                        <a:t>지터 ≤1.5mm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</a:rPr>
                        <a:t>extent w/d/h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</a:rPr>
                        <a:t>꼭 맞는 상자의 3변 (m)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</a:rPr>
                        <a:t>±1cm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</a:rPr>
                        <a:t>RPY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</a:rPr>
                        <a:t>상자의 3축 회전 (deg)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</a:rPr>
                        <a:t>0.94°/frame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6080760"/>
            <a:ext cx="11247120" cy="594360"/>
          </a:xfrm>
          <a:prstGeom prst="roundRect">
            <a:avLst/>
          </a:prstGeom>
          <a:solidFill>
            <a:srgbClr val="E8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300" b="1">
                <a:solidFill>
                  <a:srgbClr val="375A23"/>
                </a:solidFill>
              </a:rPr>
              <a:t>쉽게 말하면 — 픽셀 하나하나가 ‘방향+거리’를 아는 레이저 포인트입니다. 그 점구름에 가장 꼭 맞는 성냥갑을 끼우는 게 OBB입니다.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864"/>
                </a:solidFill>
              </a:rPr>
              <a:t>6. 회전 안정화 — 떨리는 3D 축 잡기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47120" cy="28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1F3864"/>
                </a:solidFill>
              </a:rPr>
              <a:t>▪ 문제: OBB 축은 이름표가 없다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95959"/>
                </a:solidFill>
              </a:rPr>
              <a:t>    PCA가 주는 3축은 매 프레임 순서·부호가 뒤바뀔 수 있다 (수학적으로 동등한 상자가 24가지)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95959"/>
                </a:solidFill>
              </a:rPr>
              <a:t>    → 그대로 쓰면 yaw가 90°/180°씩 점프 (실측: 첫 구현에서 프레임당 3.5° 요동)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F3864"/>
                </a:solidFill>
              </a:rPr>
              <a:t>▪ 해결 3단 (geometry.match_axes + tracker)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95959"/>
                </a:solidFill>
              </a:rPr>
              <a:t>    ① 축 대응: 이전 프레임 축과 내적이 최대가 되게 새 축을 재배열·부호 정렬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95959"/>
                </a:solidFill>
              </a:rPr>
              <a:t>    ② 데드밴드: 2° 미만의 변화는 노이즈로 보고 무시 (정지 물체는 완전히 고정됨)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95959"/>
                </a:solidFill>
              </a:rPr>
              <a:t>    ③ slerp: 2° 이상 실제 회전만 구면 보간(α=0.15)으로 부드럽게 추종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F3864"/>
                </a:solidFill>
              </a:rPr>
              <a:t>▪ 축이 애매한 물체는 회전 동결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95959"/>
                </a:solidFill>
              </a:rPr>
              <a:t>    거의 정사각(축 비율&lt;1.1)이면 어느 축이 '길이'인지 물리적으로 관측 불가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95959"/>
                </a:solidFill>
              </a:rPr>
              <a:t>    → 회전 갱신을 멈춰 축 교환 떨림 차단 (실측: 검은 가방 축비 1.015)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F3864"/>
                </a:solidFill>
              </a:rPr>
              <a:t>▪ 결과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95959"/>
                </a:solidFill>
              </a:rPr>
              <a:t>    yaw 노이즈 3.5° → 0.94°/frame, 90°/180° 축 뒤집힘 0회 (flip_count로 상시 감시)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6080760"/>
            <a:ext cx="11247120" cy="594360"/>
          </a:xfrm>
          <a:prstGeom prst="roundRect">
            <a:avLst/>
          </a:prstGeom>
          <a:solidFill>
            <a:srgbClr val="E8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300" b="1">
                <a:solidFill>
                  <a:srgbClr val="375A23"/>
                </a:solidFill>
              </a:rPr>
              <a:t>쉽게 말하면 — 성냥갑은 어느 면이 ‘앞’인지 스스로 모릅니다. ‘어제와 가장 비슷한 방향을 앞이라 부르자’가 축 대응, ‘미세한 손떨림은 무시하자’가 데드밴드입니다.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864"/>
                </a:solidFill>
              </a:rPr>
              <a:t>7. 다중 물체 ID 추적 — 같은 물체는 끝까지 같은 번호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47120" cy="28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1F3864"/>
                </a:solidFill>
              </a:rPr>
              <a:t>▪ 기본: 같은 라벨끼리 IoU 매칭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95959"/>
                </a:solidFill>
              </a:rPr>
              <a:t>    이전 트랙 박스와 새 검출 박스의 겹침(IoU)이 큰 순서로 그리디 매칭 — 물체≤4개, 고정 카메라 조건에서 충분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95959"/>
                </a:solidFill>
              </a:rPr>
              <a:t>    (조사 결과 Hungarian·ReID 임베딩은 이 규모에선 불필요 판정)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F3864"/>
                </a:solidFill>
              </a:rPr>
              <a:t>▪ MOT 연구에서 가져온 3가지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95959"/>
                </a:solidFill>
              </a:rPr>
              <a:t>    ① ByteTrack식 2-pass: 낮은 score 검출도 버리지 않고 기존 트랙 유지·위치 신호로 활용 (부분 가림 생존)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95959"/>
                </a:solidFill>
              </a:rPr>
              <a:t>    ② depth 매칭 비용 (PD-SORT): 트랙보다 유의하게 가까운 검출(=가리개)은 매칭 후보에서 제외 — 가리개가 ID를 훔치지 못함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95959"/>
                </a:solidFill>
              </a:rPr>
              <a:t>    ③ buffered rescue (C-BIoU): 가림 후 재등장 시 박스를 2.5배 넓혀 IoU 매칭 — 동결 트랙에 같은 ID로 복귀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F3864"/>
                </a:solidFill>
              </a:rPr>
              <a:t>▪ 생명주기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95959"/>
                </a:solidFill>
              </a:rPr>
              <a:t>    미검출 5회 → 동결(발행 중단, 회색 표시) → 추가 12회 유예 후 삭제 — 실측 최대 가림 2.6초를 커버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F3864"/>
                </a:solidFill>
              </a:rPr>
              <a:t>▪ 성과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95959"/>
                </a:solidFill>
              </a:rPr>
              <a:t>    가림 이벤트에서 ID 파편화 6개 → 1개, 재등장 후 자세 복귀 중앙값 0.3초 (90%는 1.7초 이내)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6080760"/>
            <a:ext cx="11247120" cy="594360"/>
          </a:xfrm>
          <a:prstGeom prst="roundRect">
            <a:avLst/>
          </a:prstGeom>
          <a:solidFill>
            <a:srgbClr val="E8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300" b="1">
                <a:solidFill>
                  <a:srgbClr val="375A23"/>
                </a:solidFill>
              </a:rPr>
              <a:t>쉽게 말하면 — 번호표를 붙인 손님이 기둥 뒤로 사라져도 예약석(동결 트랙)을 잠시 비워두고, 근처에서 다시 나타나면 같은 번호표를 돌려줍니다.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864"/>
                </a:solidFill>
              </a:rPr>
              <a:t>8. 가림(occlusion) 문제 — 실패의 역사가 설계를 만들었다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47120" cy="28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325880"/>
          <a:ext cx="1124712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840480"/>
                <a:gridCol w="502920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시도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잡은 것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뚫린 곳 (실측)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</a:rPr>
                        <a:t>① score 급락 감지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</a:rPr>
                        <a:t>손·팔이 지나가는 가림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</a:rPr>
                        <a:t>닮은 가리개(검은 파일 vs 검은 가방)는 score가 안 떨어짐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</a:rPr>
                        <a:t>② depth 침입 감지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</a:rPr>
                        <a:t>가리개는 물체보다 카메라에 가깝다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</a:rPr>
                        <a:t>같은 높이로 겹치는 가리개는 depth 차이가 없음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</a:rPr>
                        <a:t>③ 크기 급변 감지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</a:rPr>
                        <a:t>가리개와 병합된 비정상 blob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</a:rPr>
                        <a:t>기준선이 낡으면 정상 관측을 영원히 거부 (교착)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320040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1F3864"/>
                </a:solidFill>
              </a:rPr>
              <a:t>▪ 치명적 결함: 교착(deadlock)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95959"/>
                </a:solidFill>
              </a:rPr>
              <a:t>    게이트는 "수락된 관측만 기준선 갱신" — 한번 어긋나면 정상 관측도 계속 거부 → 라이브에서 멀쩡한 물체 3개가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95959"/>
                </a:solidFill>
              </a:rPr>
              <a:t>    OCCLUDED에 고착되는 사고. 임계값(50%·80%·30%·3cm)도 전부 한 bag에 맞춘 값 — 새 장면마다 하나씩 깨짐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F3864"/>
                </a:solidFill>
              </a:rPr>
              <a:t>▪ 근본 원인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95959"/>
                </a:solidFill>
              </a:rPr>
              <a:t>    이진(예/아니오) 판정 + 자기 강화 기준선 — 패치를 아무리 쌓아도 다음 실패가 예약되어 있는 구조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F3864"/>
                </a:solidFill>
              </a:rPr>
              <a:t>▪ 결론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95959"/>
                </a:solidFill>
              </a:rPr>
              <a:t>    게이트를 더 쌓지 말고, 판정 자체를 확률(불확실성 포함)로 바꾸자 → 다음 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6080760"/>
            <a:ext cx="11247120" cy="594360"/>
          </a:xfrm>
          <a:prstGeom prst="roundRect">
            <a:avLst/>
          </a:prstGeom>
          <a:solidFill>
            <a:srgbClr val="E8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300" b="1">
                <a:solidFill>
                  <a:srgbClr val="375A23"/>
                </a:solidFill>
              </a:rPr>
              <a:t>쉽게 말하면 — 문지기 3명을 세웠지만 각자 한 종류의 위장만 알아봅니다. 더 큰 문제는, 문지기가 한번 의심하면 진짜 주인도 영영 못 들어온다는 것.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864"/>
                </a:solidFill>
              </a:rPr>
              <a:t>9. 확률 융합 필터 — 게이트 3개를 수식 하나로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47120" cy="28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E75B6"/>
                </a:solidFill>
              </a:rPr>
              <a:t>설계: 독립 설계안 3개 + 교차 비판 + 수치 검증으로 확정 (docs/fusion_design_2026-08.md)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645920"/>
            <a:ext cx="2377440" cy="1371600"/>
          </a:xfrm>
          <a:prstGeom prst="roundRect">
            <a:avLst/>
          </a:prstGeom>
          <a:solidFill>
            <a:srgbClr val="DEE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0">
                <a:solidFill>
                  <a:srgbClr val="1F3864"/>
                </a:solidFill>
              </a:rPr>
              <a:t>① 예측</a:t>
            </a:r>
          </a:p>
          <a:p>
            <a:pPr algn="ctr"/>
            <a:r>
              <a:rPr sz="1100" b="0">
                <a:solidFill>
                  <a:srgbClr val="1F3864"/>
                </a:solidFill>
              </a:rPr>
              <a:t>트랙별 칼만 필터가</a:t>
            </a:r>
          </a:p>
          <a:p>
            <a:pPr algn="ctr"/>
            <a:r>
              <a:rPr sz="1100" b="0">
                <a:solidFill>
                  <a:srgbClr val="1F3864"/>
                </a:solidFill>
              </a:rPr>
              <a:t>현재 상태를 전진</a:t>
            </a:r>
          </a:p>
          <a:p>
            <a:pPr algn="ctr"/>
            <a:r>
              <a:rPr sz="1100" b="0">
                <a:solidFill>
                  <a:srgbClr val="1F3864"/>
                </a:solidFill>
              </a:rPr>
              <a:t>[위치+속도, log크기]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1645920"/>
            <a:ext cx="2377440" cy="1371600"/>
          </a:xfrm>
          <a:prstGeom prst="round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0">
                <a:solidFill>
                  <a:srgbClr val="1F3864"/>
                </a:solidFill>
              </a:rPr>
              <a:t>② 관측 도착</a:t>
            </a:r>
          </a:p>
          <a:p>
            <a:pPr algn="ctr"/>
            <a:r>
              <a:rPr sz="1100" b="0">
                <a:solidFill>
                  <a:srgbClr val="1F3864"/>
                </a:solidFill>
              </a:rPr>
              <a:t>이 프레임의 OBB</a:t>
            </a:r>
          </a:p>
          <a:p>
            <a:pPr algn="ctr"/>
            <a:r>
              <a:rPr sz="1100" b="0">
                <a:solidFill>
                  <a:srgbClr val="1F3864"/>
                </a:solidFill>
              </a:rPr>
              <a:t>(중심 xyz, 크기)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0" y="1645920"/>
            <a:ext cx="2651760" cy="1371600"/>
          </a:xfrm>
          <a:prstGeom prst="roundRect">
            <a:avLst/>
          </a:prstGeom>
          <a:solidFill>
            <a:srgbClr val="FFF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0">
                <a:solidFill>
                  <a:srgbClr val="1F3864"/>
                </a:solidFill>
              </a:rPr>
              <a:t>③ χ² 게이트 (0.999)</a:t>
            </a:r>
          </a:p>
          <a:p>
            <a:pPr algn="ctr"/>
            <a:r>
              <a:rPr sz="1100" b="0">
                <a:solidFill>
                  <a:srgbClr val="1F3864"/>
                </a:solidFill>
              </a:rPr>
              <a:t>예측과의 통계 거리 검사</a:t>
            </a:r>
          </a:p>
          <a:p>
            <a:pPr algn="ctr"/>
            <a:r>
              <a:rPr sz="1100" b="0">
                <a:solidFill>
                  <a:srgbClr val="1F3864"/>
                </a:solidFill>
              </a:rPr>
              <a:t>위치·크기 블록 분리 판정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52560" y="1325880"/>
            <a:ext cx="2743200" cy="914400"/>
          </a:xfrm>
          <a:prstGeom prst="roundRect">
            <a:avLst/>
          </a:prstGeom>
          <a:solidFill>
            <a:srgbClr val="E2EF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0">
                <a:solidFill>
                  <a:srgbClr val="1F3864"/>
                </a:solidFill>
              </a:rPr>
              <a:t>수락 → 상태 갱신 + 발행</a:t>
            </a:r>
          </a:p>
          <a:p>
            <a:pPr algn="ctr"/>
            <a:r>
              <a:rPr sz="1100" b="0">
                <a:solidFill>
                  <a:srgbClr val="1F3864"/>
                </a:solidFill>
              </a:rPr>
              <a:t>(불확실성 ↓)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052560" y="2423160"/>
            <a:ext cx="2743200" cy="914400"/>
          </a:xfrm>
          <a:prstGeom prst="roundRect">
            <a:avLst/>
          </a:prstGeom>
          <a:solidFill>
            <a:srgbClr val="FBE5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100" b="0">
                <a:solidFill>
                  <a:srgbClr val="1F3864"/>
                </a:solidFill>
              </a:rPr>
              <a:t>거부 → 상태 보호</a:t>
            </a:r>
          </a:p>
          <a:p>
            <a:pPr algn="ctr"/>
            <a:r>
              <a:rPr sz="1100" b="0">
                <a:solidFill>
                  <a:srgbClr val="1F3864"/>
                </a:solidFill>
              </a:rPr>
              <a:t>(불확실성 ↑ → 게이트 저절로 넓어짐)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34640" y="2331720"/>
            <a:ext cx="365760" cy="0"/>
          </a:xfrm>
          <a:prstGeom prst="bentConnector3">
            <a:avLst/>
          </a:prstGeom>
          <a:ln w="254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577840" y="2331720"/>
            <a:ext cx="365760" cy="0"/>
          </a:xfrm>
          <a:prstGeom prst="bentConnector3">
            <a:avLst/>
          </a:prstGeom>
          <a:ln w="254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8595360" y="1783080"/>
            <a:ext cx="457200" cy="365760"/>
          </a:xfrm>
          <a:prstGeom prst="bentConnector3">
            <a:avLst/>
          </a:prstGeom>
          <a:ln w="254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8595360" y="2514600"/>
            <a:ext cx="457200" cy="365760"/>
          </a:xfrm>
          <a:prstGeom prst="bentConnector3">
            <a:avLst/>
          </a:prstGeom>
          <a:ln w="2540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57200" y="338328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1F3864"/>
                </a:solidFill>
              </a:rPr>
              <a:t>▪ 교착이 원리적으로 불가능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95959"/>
                </a:solidFill>
              </a:rPr>
              <a:t>    거부가 이어질수록 불확실성(P)이 자라 수락 범위가 스스로 넓어진다 — 그리고 '거짓말이 클수록 오래 버텨야 믿어주는'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95959"/>
                </a:solidFill>
              </a:rPr>
              <a:t>    성질이 공짜로 나옴: 정직한 5cm 변화는 2.2초에 수락, 가리개 554mm 침입은 12.5초 거부 (테스트로 고정)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F3864"/>
                </a:solidFill>
              </a:rPr>
              <a:t>▪ 임계값 손튜닝 제거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95959"/>
                </a:solidFill>
              </a:rPr>
              <a:t>    판정 기준이 트랙 자신의 상태·잡음 규모에서 나옴 — 물체별 잡음 최대 40배 차이(검은 가방)도 자동 적응(R̂, 상·하한 보호)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F3864"/>
                </a:solidFill>
              </a:rPr>
              <a:t>▪ 발행 조건 = 신뢰 조건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95959"/>
                </a:solidFill>
              </a:rPr>
              <a:t>    연속 일관 관측 3회 승격 ∧ 최근 수락 0.5초 이내 ∧ 불확실성 상한 — 낡은 자세는 로봇에 도달할 수 없음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95959"/>
                </a:solidFill>
              </a:rPr>
              <a:t>    + 발행마다 covariance(신뢰도)를 함께 전송 → 로봇이 '지금 집어도 되나'를 판단 가능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F3864"/>
                </a:solidFill>
              </a:rPr>
              <a:t>▪ 확장성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95959"/>
                </a:solidFill>
              </a:rPr>
              <a:t>    속도가 이미 상태에 있음 — 전동 컨베이어(등속)는 코드 수정 없이 검증만 하면 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6080760"/>
            <a:ext cx="11247120" cy="594360"/>
          </a:xfrm>
          <a:prstGeom prst="roundRect">
            <a:avLst/>
          </a:prstGeom>
          <a:solidFill>
            <a:srgbClr val="E8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300" b="1">
                <a:solidFill>
                  <a:srgbClr val="375A23"/>
                </a:solidFill>
              </a:rPr>
              <a:t>쉽게 말하면 — 문지기(예/아니오) 대신 저울(얼마나 믿을까)입니다. 오래 못 믿으면 저울 눈금이 저절로 관대해져서 갇히는 일이 없습니다.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864"/>
                </a:solidFill>
              </a:rPr>
              <a:t>10. 검증 방법과 실측 결과 — 측정 없이는 수정도 없다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47120" cy="28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852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1F3864"/>
                </a:solidFill>
              </a:rPr>
              <a:t>▪ 검증 자산: 자체 rosbag 5종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95959"/>
                </a:solidFill>
              </a:rPr>
              <a:t>    test2 정지 4물체 / test3 이동(가변속) / test4·5 가림 시나리오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95959"/>
                </a:solidFill>
              </a:rPr>
              <a:t>    (가림 27이벤트) — 코드 수정마다 전체 재실행(회귀)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F3864"/>
                </a:solidFill>
              </a:rPr>
              <a:t>▪ 측정 도구를 먼저 만든다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95959"/>
                </a:solidFill>
              </a:rPr>
              <a:t>    run_offline.py: bag→mp4+CSV+트랙별 통계 자동 산출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95959"/>
                </a:solidFill>
              </a:rPr>
              <a:t>    --raw 모드: 평활 전 원시 잡음 측정 (필터 보정의 근거)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F3864"/>
                </a:solidFill>
              </a:rPr>
              <a:t>▪ 불변식은 테스트로 고정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95959"/>
                </a:solidFill>
              </a:rPr>
              <a:t>    단위+property 테스트 40개 — '거부 중 수락 범위 단조 증가',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95959"/>
                </a:solidFill>
              </a:rPr>
              <a:t>    '가리개는 실측 최대 가림의 2배 이상 거부' 등을 assert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F3864"/>
                </a:solidFill>
              </a:rPr>
              <a:t>▪ 남은 검증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95959"/>
                </a:solidFill>
              </a:rPr>
              <a:t>    절대 정확도(ArUco 마커 참값 대비) — 8/18 주 예정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371600"/>
          <a:ext cx="51206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74320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지표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결과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</a:rPr>
                        <a:t>ID 유지 (이동 3물체)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</a:rPr>
                        <a:t>각 1개 ID, 축 뒤집힘 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</a:rPr>
                        <a:t>크기 정확도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</a:rPr>
                        <a:t>실물 대비 ±1cm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</a:rPr>
                        <a:t>중심 지터 (정지)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</a:rPr>
                        <a:t>≤1.5mm std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</a:rPr>
                        <a:t>yaw 지터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</a:rPr>
                        <a:t>0.94°/frame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</a:rPr>
                        <a:t>가림 복귀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</a:rPr>
                        <a:t>중앙값 0.3s (90% ≤1.7s)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</a:rPr>
                        <a:t>게이트 교체 후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</a:rPr>
                        <a:t>가림 장면 발행 +13~51%</a:t>
                      </a:r>
                    </a:p>
                    <a:p>
                      <a:r>
                        <a:rPr sz="1100" b="0">
                          <a:solidFill>
                            <a:srgbClr val="595959"/>
                          </a:solidFill>
                        </a:rPr>
                        <a:t>keyboard 중심오차 30/46→14/24mm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</a:rPr>
                        <a:t>처리 속도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</a:rPr>
                        <a:t>9~13 FPS (RTX 4070 Ti)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6080760"/>
            <a:ext cx="11247120" cy="594360"/>
          </a:xfrm>
          <a:prstGeom prst="roundRect">
            <a:avLst/>
          </a:prstGeom>
          <a:solidFill>
            <a:srgbClr val="E8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300" b="1">
                <a:solidFill>
                  <a:srgbClr val="375A23"/>
                </a:solidFill>
              </a:rPr>
              <a:t>쉽게 말하면 — 감이 아니라 CSV로 말합니다 — 모든 개선은 ‘수정 전/후 같은 bag’의 숫자 비교로만 채택했습니다.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864"/>
                </a:solidFill>
              </a:rPr>
              <a:t>11. 시스템화 — 연구 코드가 아니라 쓰는 물건으로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47120" cy="28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852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1F3864"/>
                </a:solidFill>
              </a:rPr>
              <a:t>▪ ROS 2 노드 (Jazzy)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95959"/>
                </a:solidFill>
              </a:rPr>
              <a:t>    구독: color·aligned depth·camera_info (시각 동기화)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95959"/>
                </a:solidFill>
              </a:rPr>
              <a:t>    발행: /perception/detections (pose+covariance), markers(RViz), debug 영상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95959"/>
                </a:solidFill>
              </a:rPr>
              <a:t>    런타임 프롬프트 교체: /perception/prompt 토픽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F3864"/>
                </a:solidFill>
              </a:rPr>
              <a:t>▪ 실행 한 줄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95959"/>
                </a:solidFill>
              </a:rPr>
              <a:t>    ./run.sh — 라이브(카메라 자동 확인)/bag 겸용, RViz 자동,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95959"/>
                </a:solidFill>
              </a:rPr>
              <a:t>    종료 시 전체 프로세스 정리 (고아 노드로 GPU 포화됐던 사고 재발 방지)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F3864"/>
                </a:solidFill>
              </a:rPr>
              <a:t>▪ Docker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95959"/>
                </a:solidFill>
              </a:rPr>
              <a:t>    ingon1026/pose-anything:1.1.0 (21GB) — 호스트엔 드라이버만.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95959"/>
                </a:solidFill>
              </a:rPr>
              <a:t>    가중치는 라이선스상 미포함(HF 캐시 볼륨). compose 지원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F3864"/>
                </a:solidFill>
              </a:rPr>
              <a:t>▪ CI (GitHub Actions)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95959"/>
                </a:solidFill>
              </a:rPr>
              <a:t>    푸시마다 40개 테스트 자동 실행 — GPU 없는 러너에서도 도는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95959"/>
                </a:solidFill>
              </a:rPr>
              <a:t>     torch-free 구성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583680" y="1463040"/>
          <a:ext cx="512064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10896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토픽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내용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</a:rPr>
                        <a:t>/perception/detections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</a:rPr>
                        <a:t>Detection3DArray — 물체별 3D pose,</a:t>
                      </a:r>
                    </a:p>
                    <a:p>
                      <a:r>
                        <a:rPr sz="1100" b="0">
                          <a:solidFill>
                            <a:srgbClr val="595959"/>
                          </a:solidFill>
                        </a:rPr>
                        <a:t>크기, 라벨, score, 위치 covariance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</a:rPr>
                        <a:t>/perception/markers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</a:rPr>
                        <a:t>RViz 3D 박스·축·라벨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</a:rPr>
                        <a:t>/perception/debug_image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</a:rPr>
                        <a:t>마스크·박스 오버레이 영상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</a:rPr>
                        <a:t>/perception/prompt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595959"/>
                          </a:solidFill>
                        </a:rPr>
                        <a:t>(입력) 런타임 프롬프트 교체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457200" y="6080760"/>
            <a:ext cx="11247120" cy="594360"/>
          </a:xfrm>
          <a:prstGeom prst="roundRect">
            <a:avLst/>
          </a:prstGeom>
          <a:solidFill>
            <a:srgbClr val="E8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300" b="1">
                <a:solidFill>
                  <a:srgbClr val="375A23"/>
                </a:solidFill>
              </a:rPr>
              <a:t>쉽게 말하면 — ‘내 PC에서만 도는 데모’가 아니라 — 명령 한 줄, 컨테이너 한 개, 푸시마다 자동 검증되는 패키지입니다.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864"/>
                </a:solidFill>
              </a:rPr>
              <a:t>12. 정직한 한계와 다음 단계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47120" cy="28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5852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1F3864"/>
                </a:solidFill>
              </a:rPr>
              <a:t>▪ 한계 ① 검은·반사 표면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95959"/>
                </a:solidFill>
              </a:rPr>
              <a:t>    depth 센서가 원리적으로 약함 (검은 가방 크기 잡음 σ~60mm)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95959"/>
                </a:solidFill>
              </a:rPr>
              <a:t>    → 필터가 불확실성으로 정직하게 노출 (로봇이 보류 판단)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F3864"/>
                </a:solidFill>
              </a:rPr>
              <a:t>▪ 한계 ② 급가감속 이동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95959"/>
                </a:solidFill>
              </a:rPr>
              <a:t>    등속 모델 범위 밖 (손으로 민 137mm/s 급변) — 전동 컨베이어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95959"/>
                </a:solidFill>
              </a:rPr>
              <a:t>    (등속)는 문제없음, 필요 시 IMM 등 확장 여지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F3864"/>
                </a:solidFill>
              </a:rPr>
              <a:t>▪ 한계 ③ 모달 마스크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95959"/>
                </a:solidFill>
              </a:rPr>
              <a:t>    반쯤 가려진 물체는 보이는 부분만 잰다 — 가려진 형상 추론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95959"/>
                </a:solidFill>
              </a:rPr>
              <a:t>    (amodal completion)은 향후 과제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F3864"/>
                </a:solidFill>
              </a:rPr>
              <a:t>▪ 한계 ④ 검출 품질 의존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95959"/>
                </a:solidFill>
              </a:rPr>
              <a:t>    약한 프롬프트(gray notebook)의 오검출은 상류 문제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95959"/>
                </a:solidFill>
              </a:rPr>
              <a:t>    — 프롬프트 단어 교체가 1차 처방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128016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 b="1">
                <a:solidFill>
                  <a:srgbClr val="1F3864"/>
                </a:solidFill>
              </a:rPr>
              <a:t>▪ 8/18 주: ArUco 절대 자세 검증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95959"/>
                </a:solidFill>
              </a:rPr>
              <a:t>    지금까지는 반복 정밀도 — 참값 대비 절대 오차 측정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F3864"/>
                </a:solidFill>
              </a:rPr>
              <a:t>▪ 컨베이어 확보 시: 이동+가림 검증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95959"/>
                </a:solidFill>
              </a:rPr>
              <a:t>    속도 상태는 구현 완료 — 검증만 남음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F3864"/>
                </a:solidFill>
              </a:rPr>
              <a:t>▪ 로봇 사양 확정 시: 신뢰도 기반 파지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95959"/>
                </a:solidFill>
              </a:rPr>
              <a:t>    covariance 소비 측 연동 (이미 발행 중)</a:t>
            </a:r>
          </a:p>
          <a:p>
            <a:pPr>
              <a:spcAft>
                <a:spcPts val="200"/>
              </a:spcAft>
            </a:pPr>
            <a:r>
              <a:rPr sz="1400" b="1">
                <a:solidFill>
                  <a:srgbClr val="1F3864"/>
                </a:solidFill>
              </a:rPr>
              <a:t>▪ 장기: 엣지 배포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95959"/>
                </a:solidFill>
              </a:rPr>
              <a:t>    SAM3를 auto-labeler로 → 경량 YOLO 증류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595959"/>
                </a:solidFill>
              </a:rPr>
              <a:t>    → TensorRT (지연 수백 배 감소 로드맵)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6080760"/>
            <a:ext cx="11247120" cy="594360"/>
          </a:xfrm>
          <a:prstGeom prst="roundRect">
            <a:avLst/>
          </a:prstGeom>
          <a:solidFill>
            <a:srgbClr val="E8F0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/>
            <a:r>
              <a:rPr sz="1300" b="1">
                <a:solidFill>
                  <a:srgbClr val="375A23"/>
                </a:solidFill>
              </a:rPr>
              <a:t>쉽게 말하면 — ‘다 된다’가 아니라 ‘어디까지 되고, 안 되는 곳은 시스템이 스스로 안다고 말한다’ — 가 이 프로젝트의 신뢰 모델입니다.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3864"/>
                </a:solidFill>
              </a:rPr>
              <a:t>요약 — 한 장으로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1247120" cy="28000"/>
          </a:xfrm>
          <a:prstGeom prst="rect">
            <a:avLst/>
          </a:prstGeom>
          <a:solidFill>
            <a:srgbClr val="2E75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463040"/>
          <a:ext cx="10515599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3749039"/>
                <a:gridCol w="557784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층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기술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</a:rPr>
                        <a:t>내가 한 일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</a:rPr>
                        <a:t>인식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</a:rPr>
                        <a:t>SAM 3 (open-vocab, 848M)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</a:rPr>
                        <a:t>프롬프트 설계·bf16 최적화·threshold 실험 — 재학습 없는 물체 지정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</a:rPr>
                        <a:t>속도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</a:rPr>
                        <a:t>하이브리드 (키프레임+광학흐름)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</a:rPr>
                        <a:t>3 FPS → 9~13 FPS, 3D는 매 프레임 유지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</a:rPr>
                        <a:t>기하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</a:rPr>
                        <a:t>역투영 + PCA OBB (Open3D)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</a:rPr>
                        <a:t>MAD 필터·축 연속성·데드밴드+slerp — yaw 0.94°/frame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</a:rPr>
                        <a:t>추적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</a:rPr>
                        <a:t>IoU + ByteTrack·depth비용·rescue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</a:rPr>
                        <a:t>가림에도 ID 유지 (파편화 6→1, 복귀 0.3s)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</a:rPr>
                        <a:t>신뢰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</a:rPr>
                        <a:t>칼만 융합 + χ² 게이트 (자체 설계)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</a:rPr>
                        <a:t>이진 게이트의 교착을 구조적으로 제거, covariance 발행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</a:rPr>
                        <a:t>검증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</a:rPr>
                        <a:t>rosbag 회귀 + property 테스트 40종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</a:rPr>
                        <a:t>모든 채택은 수정 전/후 실측 비교로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</a:rPr>
                        <a:t>배포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</a:rPr>
                        <a:t>ROS 2 · Docker · CI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595959"/>
                          </a:solidFill>
                        </a:rPr>
                        <a:t>run.sh 한 줄 실행, Docker Hub 1.1.0, 푸시마다 자동 테스트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57607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F3864"/>
                </a:solidFill>
              </a:rPr>
              <a:t>"텍스트 한 줄 → 임의 물체의 3D 자세 + 신뢰도" — 학습 없이, 실시간으로, 로봇이 믿고 쓸 수 있게.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